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org&amp;utm_campaign=imageinfo&amp;utm_content=original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6" r:id="rId2"/>
  </p:sldMasterIdLst>
  <p:notesMasterIdLst>
    <p:notesMasterId r:id="rId18"/>
  </p:notesMasterIdLst>
  <p:sldIdLst>
    <p:sldId id="317" r:id="rId3"/>
    <p:sldId id="320" r:id="rId4"/>
    <p:sldId id="602" r:id="rId5"/>
    <p:sldId id="610" r:id="rId6"/>
    <p:sldId id="603" r:id="rId7"/>
    <p:sldId id="604" r:id="rId8"/>
    <p:sldId id="611" r:id="rId9"/>
    <p:sldId id="605" r:id="rId10"/>
    <p:sldId id="609" r:id="rId11"/>
    <p:sldId id="606" r:id="rId12"/>
    <p:sldId id="607" r:id="rId13"/>
    <p:sldId id="608" r:id="rId14"/>
    <p:sldId id="601" r:id="rId15"/>
    <p:sldId id="599" r:id="rId16"/>
    <p:sldId id="60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1E22"/>
    <a:srgbClr val="31710D"/>
    <a:srgbClr val="537D1A"/>
    <a:srgbClr val="659820"/>
    <a:srgbClr val="72AC25"/>
    <a:srgbClr val="C00000"/>
    <a:srgbClr val="8EB10B"/>
    <a:srgbClr val="00FDFF"/>
    <a:srgbClr val="FF9300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79726"/>
  </p:normalViewPr>
  <p:slideViewPr>
    <p:cSldViewPr snapToGrid="0" snapToObjects="1">
      <p:cViewPr varScale="1">
        <p:scale>
          <a:sx n="100" d="100"/>
          <a:sy n="100" d="100"/>
        </p:scale>
        <p:origin x="1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7A49-25B9-0D48-B6CD-D7AC171329E9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47A67-D5A7-BD42-986D-3DA83F389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95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51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published in 1687</a:t>
            </a:r>
          </a:p>
          <a:p>
            <a:r>
              <a:rPr lang="en-US" dirty="0"/>
              <a:t>The birth of modern physics, arguably modern science</a:t>
            </a:r>
          </a:p>
          <a:p>
            <a:r>
              <a:rPr lang="en-US" dirty="0"/>
              <a:t>Primarily dealt with gravitation and orbital mechanics</a:t>
            </a:r>
          </a:p>
          <a:p>
            <a:r>
              <a:rPr lang="en-US" dirty="0"/>
              <a:t>Also treats pendulums and viscous damping</a:t>
            </a:r>
          </a:p>
          <a:p>
            <a:r>
              <a:rPr lang="en-US" dirty="0"/>
              <a:t>Very geometric flavor</a:t>
            </a:r>
          </a:p>
          <a:p>
            <a:r>
              <a:rPr lang="en-US" dirty="0"/>
              <a:t>F=ma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55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A9AE-0886-3BCA-7E3F-D81C5CEA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E33C-56FC-9E10-D11A-B64B00560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16D8D-BD3C-1AB3-C2C9-BB80F70B0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Developed over many years but full theory first published in 1765</a:t>
            </a:r>
          </a:p>
          <a:p>
            <a:r>
              <a:rPr lang="en-US" dirty="0"/>
              <a:t>Extended Newtonian point-mass mechanics to extended rigid bodies with both position and orientation</a:t>
            </a:r>
          </a:p>
          <a:p>
            <a:r>
              <a:rPr lang="en-US" dirty="0"/>
              <a:t>Introduced concepts of moment of inertia, inertia tensor, Euler angles, and Euler’s equation for rigid-body motion</a:t>
            </a:r>
          </a:p>
          <a:p>
            <a:r>
              <a:rPr lang="en-US" dirty="0"/>
              <a:t>Motivation at the time was to model and understand the motion of ships</a:t>
            </a:r>
          </a:p>
          <a:p>
            <a:r>
              <a:rPr lang="en-US" dirty="0"/>
              <a:t>Analyzed spinning tops and rotation of planets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2BE-03CF-6F02-1942-2C334AF31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90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Lagrange, also large contributions from D’Alembert. Published 1788</a:t>
            </a:r>
          </a:p>
          <a:p>
            <a:r>
              <a:rPr lang="en-US" dirty="0"/>
              <a:t>Deliberately throws out the geometric/vector based picture from Newton in favor of a more “analytic” approach. No pictures.</a:t>
            </a:r>
          </a:p>
          <a:p>
            <a:r>
              <a:rPr lang="en-US" dirty="0"/>
              <a:t>Major advancement: re-formulates Newton’s laws in a coordinate-independent way.</a:t>
            </a:r>
          </a:p>
          <a:p>
            <a:r>
              <a:rPr lang="en-US" dirty="0"/>
              <a:t>We no longer have to draw free-body diagrams or think about force vectors if we don’t want to</a:t>
            </a:r>
          </a:p>
          <a:p>
            <a:r>
              <a:rPr lang="en-US" dirty="0"/>
              <a:t>Very powerful – still widely used and is (one of) the most practical and useful methods for deriving equations of motion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82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Hamilton’s Principle/Least action (1833)</a:t>
            </a:r>
          </a:p>
          <a:p>
            <a:r>
              <a:rPr lang="en-US" dirty="0"/>
              <a:t>Re-formulates mechanics as an optimization problem</a:t>
            </a:r>
          </a:p>
          <a:p>
            <a:r>
              <a:rPr lang="en-US" dirty="0"/>
              <a:t>The trajectory that the system follows is the one that minimizes a cost/objective/loss function called the action</a:t>
            </a:r>
          </a:p>
          <a:p>
            <a:r>
              <a:rPr lang="en-US" dirty="0"/>
              <a:t>Lots of ways to generalize this: we can use any coordinates we want for position and velocity independently, we can add constraints, etc.</a:t>
            </a:r>
          </a:p>
          <a:p>
            <a:r>
              <a:rPr lang="en-US" dirty="0"/>
              <a:t>Provides a bridge between dynamics and numerical optimization that leads to state-of-the-art simulation algorithms</a:t>
            </a:r>
          </a:p>
          <a:p>
            <a:r>
              <a:rPr lang="en-US" dirty="0"/>
              <a:t>Also developed quaternions to describe 3D rotations, which are standard in aerospace and computer graphics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44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8D71C-32FC-9C61-74F1-A4A0A937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44D12-99C6-BD8E-6C0B-2E9940440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C096C-9427-75C7-30A4-2321664FD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Poincare (1880s) worked on the three-body problem motivated by a prize offered by the King of Sweden</a:t>
            </a:r>
          </a:p>
          <a:p>
            <a:r>
              <a:rPr lang="en-US" dirty="0"/>
              <a:t>People at the time were trying to find analytical solutions</a:t>
            </a:r>
          </a:p>
          <a:p>
            <a:r>
              <a:rPr lang="en-US" dirty="0"/>
              <a:t>Poincare essentially showed that you couldn’t find one in general</a:t>
            </a:r>
          </a:p>
          <a:p>
            <a:r>
              <a:rPr lang="en-US" dirty="0"/>
              <a:t>First work on what we now call Chaos theory</a:t>
            </a:r>
          </a:p>
          <a:p>
            <a:r>
              <a:rPr lang="en-US" dirty="0"/>
              <a:t>Initiated modern field of dynamical systems theory, which is about qualitatively understanding dynamics when we can’t find closed-form solutions (equilibria, stability, limit cycles, etc.)</a:t>
            </a:r>
          </a:p>
          <a:p>
            <a:r>
              <a:rPr lang="en-US" dirty="0"/>
              <a:t>These ideas underlie modern space mission design that leverages N-body gravitation effects to find low-thrust/low-energy trajectories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96248-C9A8-7F44-ACB4-6C306C9A2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26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Thomas Kane (1950s-1970s)</a:t>
            </a:r>
          </a:p>
          <a:p>
            <a:r>
              <a:rPr lang="en-US" dirty="0"/>
              <a:t>Kane’s Method/Equations (1950s-60s)</a:t>
            </a:r>
          </a:p>
          <a:p>
            <a:r>
              <a:rPr lang="en-US" dirty="0"/>
              <a:t>Another formulation of classical mechanics</a:t>
            </a:r>
          </a:p>
          <a:p>
            <a:r>
              <a:rPr lang="en-US" dirty="0"/>
              <a:t>Slightly more flexible than </a:t>
            </a:r>
            <a:r>
              <a:rPr lang="en-US" dirty="0" err="1"/>
              <a:t>Lagrangian</a:t>
            </a:r>
            <a:r>
              <a:rPr lang="en-US" dirty="0"/>
              <a:t> in that it allows choosing position and velocity coordinates independently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Widely used in aerospace industry</a:t>
            </a:r>
          </a:p>
          <a:p>
            <a:r>
              <a:rPr lang="en-US" dirty="0"/>
              <a:t>Novelty: focus on computational efficiency</a:t>
            </a:r>
          </a:p>
          <a:p>
            <a:r>
              <a:rPr lang="en-US" dirty="0"/>
              <a:t>More importantly(</a:t>
            </a:r>
            <a:r>
              <a:rPr lang="en-US" dirty="0">
                <a:sym typeface="Wingdings" pitchFamily="2" charset="2"/>
              </a:rPr>
              <a:t>?): developed (with students) on of the first software packages for multi-body dynamics (</a:t>
            </a:r>
            <a:r>
              <a:rPr lang="en-US" dirty="0" err="1">
                <a:sym typeface="Wingdings" pitchFamily="2" charset="2"/>
              </a:rPr>
              <a:t>Autolev</a:t>
            </a:r>
            <a:r>
              <a:rPr lang="en-US" dirty="0">
                <a:sym typeface="Wingdings" pitchFamily="2" charset="2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8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Arnold + Marsden (1960s-70s)</a:t>
            </a:r>
          </a:p>
          <a:p>
            <a:r>
              <a:rPr lang="en-US" dirty="0"/>
              <a:t>Geometric Mechanics</a:t>
            </a:r>
          </a:p>
          <a:p>
            <a:r>
              <a:rPr lang="en-US" dirty="0"/>
              <a:t>Applying ideas from differential geometry to dynamics</a:t>
            </a:r>
          </a:p>
          <a:p>
            <a:r>
              <a:rPr lang="en-US" dirty="0"/>
              <a:t>Provides lots of insight into mathematical structure, conservation laws,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35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Roy Featherstone (1980s)</a:t>
            </a:r>
          </a:p>
          <a:p>
            <a:r>
              <a:rPr lang="en-US" dirty="0"/>
              <a:t>Developed first general linear-time algorithms for dynamics</a:t>
            </a:r>
          </a:p>
          <a:p>
            <a:r>
              <a:rPr lang="en-US" dirty="0"/>
              <a:t>Deals explicitly with serial-chain manipulators common in industrial robotics</a:t>
            </a:r>
          </a:p>
          <a:p>
            <a:r>
              <a:rPr lang="en-US" dirty="0"/>
              <a:t>Later extended to floating-base systems</a:t>
            </a:r>
          </a:p>
          <a:p>
            <a:r>
              <a:rPr lang="en-US" dirty="0"/>
              <a:t>Widely used in state-of-the-art simulators (</a:t>
            </a:r>
            <a:r>
              <a:rPr lang="en-US" dirty="0" err="1"/>
              <a:t>MuJoCo</a:t>
            </a:r>
            <a:r>
              <a:rPr lang="en-US" dirty="0"/>
              <a:t>, </a:t>
            </a:r>
            <a:r>
              <a:rPr lang="en-US" dirty="0" err="1"/>
              <a:t>PyBullet</a:t>
            </a:r>
            <a:r>
              <a:rPr lang="en-US" dirty="0"/>
              <a:t>, Dart, etc.)</a:t>
            </a:r>
          </a:p>
          <a:p>
            <a:endParaRPr lang="en-US" dirty="0"/>
          </a:p>
          <a:p>
            <a:r>
              <a:rPr lang="en-US" dirty="0"/>
              <a:t>David </a:t>
            </a:r>
            <a:r>
              <a:rPr lang="en-US" dirty="0" err="1"/>
              <a:t>Baraff</a:t>
            </a:r>
            <a:r>
              <a:rPr lang="en-US" dirty="0"/>
              <a:t> (1990s)</a:t>
            </a:r>
          </a:p>
          <a:p>
            <a:r>
              <a:rPr lang="en-US" dirty="0"/>
              <a:t>Showed how to compute dynamics in linear time from a </a:t>
            </a:r>
            <a:r>
              <a:rPr lang="en-US" dirty="0" err="1"/>
              <a:t>Lagrangian</a:t>
            </a:r>
            <a:r>
              <a:rPr lang="en-US" dirty="0"/>
              <a:t> perspective with explicit joint constraints</a:t>
            </a:r>
          </a:p>
          <a:p>
            <a:endParaRPr lang="en-US" dirty="0"/>
          </a:p>
          <a:p>
            <a:r>
              <a:rPr lang="en-US" dirty="0"/>
              <a:t>These methods exploit graph structure of the physical system (topology connections between links/joints) to find efficient ways of solving the equations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62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Moreau (1970s-80s)</a:t>
            </a:r>
          </a:p>
          <a:p>
            <a:r>
              <a:rPr lang="en-US" dirty="0"/>
              <a:t>Stewart + Trinkle (1990s-2000s)</a:t>
            </a:r>
          </a:p>
          <a:p>
            <a:r>
              <a:rPr lang="en-US" dirty="0"/>
              <a:t>Time-stepping methods for simulating impacts + friction</a:t>
            </a:r>
          </a:p>
          <a:p>
            <a:r>
              <a:rPr lang="en-US" dirty="0"/>
              <a:t>Solve an optimization problem at each time step with contact constraints to compute impact + friction forces</a:t>
            </a:r>
          </a:p>
          <a:p>
            <a:r>
              <a:rPr lang="en-US" dirty="0"/>
              <a:t>Used in many current robotics simulators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89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Marsden + students (2000s)</a:t>
            </a:r>
          </a:p>
          <a:p>
            <a:r>
              <a:rPr lang="en-US" dirty="0"/>
              <a:t>Build numerical integration/simulation methods by directly discretizing the least-action principle instead of ODEs</a:t>
            </a:r>
          </a:p>
          <a:p>
            <a:r>
              <a:rPr lang="en-US" dirty="0"/>
              <a:t>Leads to algorithms that automatically satisfy conservation, symmetry, and constraint properties of the true system</a:t>
            </a:r>
          </a:p>
          <a:p>
            <a:r>
              <a:rPr lang="en-US" dirty="0"/>
              <a:t>Deep connections to optimal control</a:t>
            </a:r>
          </a:p>
          <a:p>
            <a:r>
              <a:rPr lang="en-US" dirty="0"/>
              <a:t>Still not very widely known/used, probably because theory is challenging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5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17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69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9DCD8-704A-A441-AA43-F6265B5A70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4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989C-27FB-044D-B14A-3DAF8B9251F9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1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CAB62-BF5D-3446-B635-2CD68B732CEF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4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F4FC-6103-FD4B-A6E9-D1CEDFBAD7A9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23C92-45F4-4C30-810D-4886C1BA696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0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0A8D-FBB2-564E-A91E-B9E7C70667F2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9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C65B-3E1E-0D41-A1FC-BF2EE588852A}" type="datetime1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5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9BA2-CF4C-DB42-9BC2-53BFFC189D61}" type="datetime1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7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C2EB-FC17-1F43-8DA5-88D8D6EC8950}" type="datetime1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2B588-203A-8040-89B0-6632BDA5247C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59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26E0-4940-9F46-A72A-DAB8AECF625A}" type="datetime1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233CA-EC00-2C40-B0E0-11BB7A622EA8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405B-4C76-9B47-98C0-29B93B22BED4}" type="datetime1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663" y="640752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4508C-F789-E14F-B1AF-6F55DE085B8E}" type="datetime1">
              <a:rPr lang="en-US" smtClean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011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7851" y="640117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14663" y="104017"/>
            <a:ext cx="8916788" cy="0"/>
          </a:xfrm>
          <a:prstGeom prst="line">
            <a:avLst/>
          </a:prstGeom>
          <a:ln w="31750" cmpd="sng">
            <a:solidFill>
              <a:srgbClr val="C00000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H="1">
            <a:off x="114663" y="6749906"/>
            <a:ext cx="8916788" cy="0"/>
          </a:xfrm>
          <a:prstGeom prst="line">
            <a:avLst/>
          </a:prstGeom>
          <a:ln w="31750" cmpd="sng">
            <a:solidFill>
              <a:srgbClr val="C00000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717A1-A644-EB4B-BDA0-0370E2A9EAA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9/14/26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69E95-106C-A24C-A4ED-194F6610577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14663" y="104017"/>
            <a:ext cx="8916788" cy="0"/>
          </a:xfrm>
          <a:prstGeom prst="line">
            <a:avLst/>
          </a:prstGeom>
          <a:ln w="34925" cmpd="sng">
            <a:solidFill>
              <a:srgbClr val="8EB10A"/>
            </a:solidFill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H="1">
            <a:off x="114663" y="6749906"/>
            <a:ext cx="8916788" cy="0"/>
          </a:xfrm>
          <a:prstGeom prst="line">
            <a:avLst/>
          </a:prstGeom>
          <a:ln w="34925" cmpd="sng">
            <a:solidFill>
              <a:srgbClr val="8EB10A"/>
            </a:solidFill>
            <a:headEnd type="oval" w="sm" len="sm"/>
            <a:tailEnd type="oval" w="sm" len="sm"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56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org&amp;utm_campaign=imageinfo&amp;utm_content=origi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org&amp;utm_campaign=parser&amp;utm_content=thumbnai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tlas | Boston Dynamics">
            <a:extLst>
              <a:ext uri="{FF2B5EF4-FFF2-40B4-BE49-F238E27FC236}">
                <a16:creationId xmlns:a16="http://schemas.microsoft.com/office/drawing/2014/main" id="{7FA5B369-D531-3942-A5BA-B175CFC16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276" y="1742375"/>
            <a:ext cx="5513447" cy="432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13603" y="209861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+mn-lt"/>
              </a:rPr>
              <a:t>Dynamics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B64749-5420-2043-9FBA-4B1AE1E20677}"/>
              </a:ext>
            </a:extLst>
          </p:cNvPr>
          <p:cNvSpPr txBox="1">
            <a:spLocks/>
          </p:cNvSpPr>
          <p:nvPr/>
        </p:nvSpPr>
        <p:spPr>
          <a:xfrm>
            <a:off x="113602" y="787424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+mn-lt"/>
              </a:rPr>
              <a:t>16.07</a:t>
            </a:r>
            <a:endParaRPr lang="en-US" sz="6000" b="1" dirty="0"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4C9AB8-E429-7D48-B4C9-16BC411151C4}"/>
              </a:ext>
            </a:extLst>
          </p:cNvPr>
          <p:cNvSpPr txBox="1">
            <a:spLocks/>
          </p:cNvSpPr>
          <p:nvPr/>
        </p:nvSpPr>
        <p:spPr>
          <a:xfrm>
            <a:off x="113603" y="6095665"/>
            <a:ext cx="8916787" cy="54264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Fall 2026</a:t>
            </a:r>
            <a:endParaRPr lang="en-US" sz="5400" dirty="0">
              <a:latin typeface="+mn-lt"/>
            </a:endParaRPr>
          </a:p>
        </p:txBody>
      </p:sp>
      <p:pic>
        <p:nvPicPr>
          <p:cNvPr id="3" name="Picture 2" descr="Shape&#10;&#10;Description automatically generated">
            <a:extLst>
              <a:ext uri="{FF2B5EF4-FFF2-40B4-BE49-F238E27FC236}">
                <a16:creationId xmlns:a16="http://schemas.microsoft.com/office/drawing/2014/main" id="{11B13829-FEB5-AD4D-B6FA-8F078614A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764" y="1437016"/>
            <a:ext cx="3665236" cy="3389627"/>
          </a:xfrm>
          <a:prstGeom prst="rect">
            <a:avLst/>
          </a:prstGeom>
        </p:spPr>
      </p:pic>
      <p:pic>
        <p:nvPicPr>
          <p:cNvPr id="9" name="Picture 8" descr="MomentumSphere.png">
            <a:extLst>
              <a:ext uri="{FF2B5EF4-FFF2-40B4-BE49-F238E27FC236}">
                <a16:creationId xmlns:a16="http://schemas.microsoft.com/office/drawing/2014/main" id="{6F5A2687-DBA2-0B4D-94A8-8E4325D4D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01" y="1523613"/>
            <a:ext cx="2982950" cy="297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0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Course Team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D43606-08FB-404B-A69C-66EE2916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8" y="859455"/>
            <a:ext cx="2379365" cy="2379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84913C-7968-8D46-ABE3-68FB9FE13020}"/>
              </a:ext>
            </a:extLst>
          </p:cNvPr>
          <p:cNvSpPr txBox="1"/>
          <p:nvPr/>
        </p:nvSpPr>
        <p:spPr>
          <a:xfrm>
            <a:off x="793438" y="3238820"/>
            <a:ext cx="2379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Zac - Instructor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78F760-0A2E-1E4C-8874-C90EE767C7C0}"/>
              </a:ext>
            </a:extLst>
          </p:cNvPr>
          <p:cNvSpPr txBox="1"/>
          <p:nvPr/>
        </p:nvSpPr>
        <p:spPr>
          <a:xfrm>
            <a:off x="6015625" y="3429000"/>
            <a:ext cx="23349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John - TA</a:t>
            </a:r>
          </a:p>
        </p:txBody>
      </p:sp>
      <p:pic>
        <p:nvPicPr>
          <p:cNvPr id="4" name="Picture 3" descr="John Zhang">
            <a:extLst>
              <a:ext uri="{FF2B5EF4-FFF2-40B4-BE49-F238E27FC236}">
                <a16:creationId xmlns:a16="http://schemas.microsoft.com/office/drawing/2014/main" id="{A4E5A66B-54F2-3CD6-6554-188E4EFEC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625" y="849944"/>
            <a:ext cx="2334937" cy="2579056"/>
          </a:xfrm>
          <a:prstGeom prst="rect">
            <a:avLst/>
          </a:prstGeom>
        </p:spPr>
      </p:pic>
      <p:pic>
        <p:nvPicPr>
          <p:cNvPr id="5" name="Picture 4" descr="Patrick McKeen">
            <a:extLst>
              <a:ext uri="{FF2B5EF4-FFF2-40B4-BE49-F238E27FC236}">
                <a16:creationId xmlns:a16="http://schemas.microsoft.com/office/drawing/2014/main" id="{E6B484EF-06E5-3699-001F-DF9E90976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139" y="3882735"/>
            <a:ext cx="1997149" cy="2379365"/>
          </a:xfrm>
          <a:prstGeom prst="rect">
            <a:avLst/>
          </a:prstGeom>
        </p:spPr>
      </p:pic>
      <p:pic>
        <p:nvPicPr>
          <p:cNvPr id="6" name="Picture 5" descr="Jon Arrizabalaga">
            <a:extLst>
              <a:ext uri="{FF2B5EF4-FFF2-40B4-BE49-F238E27FC236}">
                <a16:creationId xmlns:a16="http://schemas.microsoft.com/office/drawing/2014/main" id="{CA6C4FC2-AC42-3E06-0D57-54EC766F44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64"/>
          <a:stretch>
            <a:fillRect/>
          </a:stretch>
        </p:blipFill>
        <p:spPr>
          <a:xfrm>
            <a:off x="5257969" y="3892610"/>
            <a:ext cx="1997149" cy="23793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BD81E4-35AB-25A3-2B6B-9D5ECB3146B6}"/>
              </a:ext>
            </a:extLst>
          </p:cNvPr>
          <p:cNvSpPr txBox="1"/>
          <p:nvPr/>
        </p:nvSpPr>
        <p:spPr>
          <a:xfrm>
            <a:off x="1526139" y="6262100"/>
            <a:ext cx="1997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Patrick - Postdoc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DEE3A0-C298-C991-8140-991AA350497B}"/>
              </a:ext>
            </a:extLst>
          </p:cNvPr>
          <p:cNvSpPr txBox="1"/>
          <p:nvPr/>
        </p:nvSpPr>
        <p:spPr>
          <a:xfrm>
            <a:off x="5257969" y="6262099"/>
            <a:ext cx="1997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Jon - Postdoc</a:t>
            </a:r>
          </a:p>
        </p:txBody>
      </p:sp>
    </p:spTree>
    <p:extLst>
      <p:ext uri="{BB962C8B-B14F-4D97-AF65-F5344CB8AC3E}">
        <p14:creationId xmlns:p14="http://schemas.microsoft.com/office/powerpoint/2010/main" val="29853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030F167-9FAD-FA41-A538-59F97EF63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3" y="950495"/>
            <a:ext cx="4003280" cy="554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may contain Sphere Text and Shooting Range">
            <a:extLst>
              <a:ext uri="{FF2B5EF4-FFF2-40B4-BE49-F238E27FC236}">
                <a16:creationId xmlns:a16="http://schemas.microsoft.com/office/drawing/2014/main" id="{491D47F9-56AA-D946-B3D7-9DE94A6D11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3" r="16448"/>
          <a:stretch/>
        </p:blipFill>
        <p:spPr bwMode="auto">
          <a:xfrm>
            <a:off x="4311691" y="1034716"/>
            <a:ext cx="4717646" cy="537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136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878FC-55E6-5D9E-7969-FBA37DB5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1FA3BE0-C33B-DF2B-5150-12FBC40D3C92}"/>
              </a:ext>
            </a:extLst>
          </p:cNvPr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8C93F8-59BB-2A80-8BB6-6C2253A85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3" y="996349"/>
            <a:ext cx="4647837" cy="55187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69409-82F0-4798-1256-BA2708F0E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557" y="1584325"/>
            <a:ext cx="3767728" cy="36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96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6FFB8A-24E1-3340-9E40-C945BD903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15" y="1034715"/>
            <a:ext cx="3865203" cy="549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64C50D-825A-CA43-BC04-0635EBE75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985" y="2876550"/>
            <a:ext cx="40894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21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AEEA5CE-A287-7D40-B74E-84CCFE610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16" y="1539374"/>
            <a:ext cx="3403600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B5E7F58-A093-8643-9BC3-12C07AC4D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684" y="1984207"/>
            <a:ext cx="4622800" cy="1181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B13F92-DE87-C841-BEA8-D1E759F4F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984" y="4045417"/>
            <a:ext cx="18542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7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92C6-A353-C328-708F-0D7CDA24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2E351AE-B1B2-DF02-2C68-FE214D783A28}"/>
              </a:ext>
            </a:extLst>
          </p:cNvPr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024FD-E2AE-6CCF-D42B-A7D32876D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3" y="952499"/>
            <a:ext cx="4279537" cy="5477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AB1CA2-33AC-D82C-452E-B12820A4B7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67" t="14191" r="7099" b="15064"/>
          <a:stretch>
            <a:fillRect/>
          </a:stretch>
        </p:blipFill>
        <p:spPr>
          <a:xfrm>
            <a:off x="4749802" y="1150499"/>
            <a:ext cx="4038598" cy="520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1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7170" name="Picture 2" descr="PyDy&amp;#39;s Documentation — PyDy Distribution 0.6.0.dev0 documentation">
            <a:extLst>
              <a:ext uri="{FF2B5EF4-FFF2-40B4-BE49-F238E27FC236}">
                <a16:creationId xmlns:a16="http://schemas.microsoft.com/office/drawing/2014/main" id="{907AB02E-505F-B94B-8055-E64A00641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2" r="10333" b="7244"/>
          <a:stretch/>
        </p:blipFill>
        <p:spPr bwMode="auto">
          <a:xfrm>
            <a:off x="5113421" y="1311443"/>
            <a:ext cx="4030579" cy="395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DF] A dynamical explanation of the falling cat phenomenon | Semantic  Scholar">
            <a:extLst>
              <a:ext uri="{FF2B5EF4-FFF2-40B4-BE49-F238E27FC236}">
                <a16:creationId xmlns:a16="http://schemas.microsoft.com/office/drawing/2014/main" id="{C83CB45C-8E79-F543-B0C5-D3B2163E38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4" r="12981"/>
          <a:stretch/>
        </p:blipFill>
        <p:spPr bwMode="auto">
          <a:xfrm>
            <a:off x="112550" y="1012186"/>
            <a:ext cx="3316450" cy="551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A5B250-0E2C-B947-AF59-5DA0868CE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9690" y="2722477"/>
            <a:ext cx="3165250" cy="213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4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4A56825-D815-5345-ACF5-E3BD42564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859455"/>
            <a:ext cx="3394951" cy="538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Torus.png">
            <a:extLst>
              <a:ext uri="{FF2B5EF4-FFF2-40B4-BE49-F238E27FC236}">
                <a16:creationId xmlns:a16="http://schemas.microsoft.com/office/drawing/2014/main" id="{97CEC356-44CC-764A-BD73-6660C8D123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558" y="1305308"/>
            <a:ext cx="5996139" cy="449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4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8196" name="Picture 4" descr="Robot Dynamics Algorithms">
            <a:extLst>
              <a:ext uri="{FF2B5EF4-FFF2-40B4-BE49-F238E27FC236}">
                <a16:creationId xmlns:a16="http://schemas.microsoft.com/office/drawing/2014/main" id="{B2975F55-DF6A-4D4C-8BF1-0F985A99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32" y="1325478"/>
            <a:ext cx="26162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53912B-1B09-7949-9683-90CC8D3DB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529" y="2086475"/>
            <a:ext cx="5354474" cy="29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3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7EAFE5C1-A308-F049-BDB5-BF2937E4AD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20" r="29342" b="23041"/>
          <a:stretch/>
        </p:blipFill>
        <p:spPr bwMode="auto">
          <a:xfrm>
            <a:off x="1341521" y="757989"/>
            <a:ext cx="6460958" cy="247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555B9597-ABB8-C94B-A17A-75BDC0B55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8651"/>
            <a:ext cx="9144000" cy="34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036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A Brief History of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E66C7-1671-6D4F-98CC-FF5E4FAF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237" y="3031432"/>
            <a:ext cx="4483100" cy="359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A1ED02-2C7B-534B-9151-B77486938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3" y="3031432"/>
            <a:ext cx="4483100" cy="359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C8E093-F081-D846-A5EB-CE48966FB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2" y="919087"/>
            <a:ext cx="9144000" cy="158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What Are We Doing Here?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64D576-A8BD-224F-9838-9C38DCA78DD2}"/>
              </a:ext>
            </a:extLst>
          </p:cNvPr>
          <p:cNvSpPr txBox="1"/>
          <p:nvPr/>
        </p:nvSpPr>
        <p:spPr>
          <a:xfrm>
            <a:off x="112550" y="859455"/>
            <a:ext cx="891678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Review of Newtonian point-mass dynamics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Coordinate systems and reference frames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Classical analytical methods (</a:t>
            </a:r>
            <a:r>
              <a:rPr lang="en-US" sz="2800" dirty="0" err="1"/>
              <a:t>Lagrangian</a:t>
            </a:r>
            <a:r>
              <a:rPr lang="en-US" sz="2800" dirty="0"/>
              <a:t>, etc.)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Orbit mechanics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Rigid and multi-body dynamics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Numerical simulation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Focus on aerospace and robotics applications</a:t>
            </a:r>
          </a:p>
        </p:txBody>
      </p:sp>
      <p:pic>
        <p:nvPicPr>
          <p:cNvPr id="5" name="Picture 4" descr="MomentumSphere.png">
            <a:extLst>
              <a:ext uri="{FF2B5EF4-FFF2-40B4-BE49-F238E27FC236}">
                <a16:creationId xmlns:a16="http://schemas.microsoft.com/office/drawing/2014/main" id="{787F5AEF-264A-0143-A065-06DC4B5B7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016" y="4680376"/>
            <a:ext cx="1905968" cy="19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67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Logistics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EDAE3F-7761-084B-9EB1-5B14C8671CB2}"/>
              </a:ext>
            </a:extLst>
          </p:cNvPr>
          <p:cNvSpPr txBox="1"/>
          <p:nvPr/>
        </p:nvSpPr>
        <p:spPr>
          <a:xfrm>
            <a:off x="113606" y="859455"/>
            <a:ext cx="891678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Lectures in 35-225 (recordings will be posted)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Recitations in 35-225 (additional Office hours TBD)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No textbook – lecture notes will be posted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Piazza for course communication, Canvas for homework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Three labs during Friday recitation times – location TBD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In-class mid-term + cumulative final</a:t>
            </a:r>
          </a:p>
        </p:txBody>
      </p:sp>
      <p:pic>
        <p:nvPicPr>
          <p:cNvPr id="5" name="Picture 4" descr="MomentumSphere.png">
            <a:extLst>
              <a:ext uri="{FF2B5EF4-FFF2-40B4-BE49-F238E27FC236}">
                <a16:creationId xmlns:a16="http://schemas.microsoft.com/office/drawing/2014/main" id="{2A9EAC9D-7CEE-454B-B906-9FC00AA20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047" y="4331369"/>
            <a:ext cx="2297906" cy="229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31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663" y="132086"/>
            <a:ext cx="8916787" cy="727369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+mn-lt"/>
              </a:rPr>
              <a:t>Getting Started: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0EB8D6-E8F2-E94F-86E6-9109527B3106}"/>
              </a:ext>
            </a:extLst>
          </p:cNvPr>
          <p:cNvSpPr/>
          <p:nvPr/>
        </p:nvSpPr>
        <p:spPr>
          <a:xfrm>
            <a:off x="937511" y="1679112"/>
            <a:ext cx="632166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Fill out course survey:</a:t>
            </a:r>
          </a:p>
          <a:p>
            <a:r>
              <a:rPr lang="en-US" sz="3200" u="sng" dirty="0">
                <a:solidFill>
                  <a:srgbClr val="0070C0"/>
                </a:solidFill>
              </a:rPr>
              <a:t>https://</a:t>
            </a:r>
            <a:r>
              <a:rPr lang="en-US" sz="3200" u="sng" dirty="0" err="1">
                <a:solidFill>
                  <a:srgbClr val="0070C0"/>
                </a:solidFill>
              </a:rPr>
              <a:t>forms.gle</a:t>
            </a:r>
            <a:r>
              <a:rPr lang="en-US" sz="3200" u="sng" dirty="0">
                <a:solidFill>
                  <a:srgbClr val="0070C0"/>
                </a:solidFill>
              </a:rPr>
              <a:t>/Eif8SJwqJqssLBVa6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A2B236-DBDC-184F-B2BE-2AA8D0EF098F}"/>
              </a:ext>
            </a:extLst>
          </p:cNvPr>
          <p:cNvSpPr/>
          <p:nvPr/>
        </p:nvSpPr>
        <p:spPr>
          <a:xfrm>
            <a:off x="937511" y="3806129"/>
            <a:ext cx="750798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Join course Piazza:</a:t>
            </a:r>
          </a:p>
          <a:p>
            <a:r>
              <a:rPr lang="en-US" sz="3200" u="sng" dirty="0">
                <a:solidFill>
                  <a:srgbClr val="0070C0"/>
                </a:solidFill>
              </a:rPr>
              <a:t>https://</a:t>
            </a:r>
            <a:r>
              <a:rPr lang="en-US" sz="3200" u="sng" dirty="0" err="1">
                <a:solidFill>
                  <a:srgbClr val="0070C0"/>
                </a:solidFill>
              </a:rPr>
              <a:t>piazza.com</a:t>
            </a:r>
            <a:r>
              <a:rPr lang="en-US" sz="3200" u="sng" dirty="0">
                <a:solidFill>
                  <a:srgbClr val="0070C0"/>
                </a:solidFill>
              </a:rPr>
              <a:t>/</a:t>
            </a:r>
            <a:r>
              <a:rPr lang="en-US" sz="3200" u="sng" dirty="0" err="1">
                <a:solidFill>
                  <a:srgbClr val="0070C0"/>
                </a:solidFill>
              </a:rPr>
              <a:t>mit</a:t>
            </a:r>
            <a:r>
              <a:rPr lang="en-US" sz="3200" u="sng" dirty="0">
                <a:solidFill>
                  <a:srgbClr val="0070C0"/>
                </a:solidFill>
              </a:rPr>
              <a:t>/fall2026/1607</a:t>
            </a:r>
          </a:p>
        </p:txBody>
      </p:sp>
    </p:spTree>
    <p:extLst>
      <p:ext uri="{BB962C8B-B14F-4D97-AF65-F5344CB8AC3E}">
        <p14:creationId xmlns:p14="http://schemas.microsoft.com/office/powerpoint/2010/main" val="515640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10891</TotalTime>
  <Words>841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Manchester, Zachary</dc:creator>
  <cp:lastModifiedBy>Zac Manchester</cp:lastModifiedBy>
  <cp:revision>513</cp:revision>
  <dcterms:created xsi:type="dcterms:W3CDTF">2016-09-15T20:26:13Z</dcterms:created>
  <dcterms:modified xsi:type="dcterms:W3CDTF">2026-09-14T16:13:25Z</dcterms:modified>
</cp:coreProperties>
</file>